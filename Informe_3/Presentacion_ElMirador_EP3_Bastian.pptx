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2" r:id="rId4"/>
    <p:sldId id="264" r:id="rId5"/>
    <p:sldId id="265" r:id="rId6"/>
    <p:sldId id="26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AF43C33-540F-4CD7-A7CC-7251A0822E24}" type="datetimeFigureOut">
              <a:rPr lang="es-CL" smtClean="0"/>
              <a:t>23-06-2026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8710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23-06-2026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0274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23-06-2026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99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23-06-2026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53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23-06-2026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7015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23-06-2026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579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23-06-2026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912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23-06-2026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22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23-06-2026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089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23-06-2026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78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23-06-2026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658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AF43C33-540F-4CD7-A7CC-7251A0822E24}" type="datetimeFigureOut">
              <a:rPr lang="es-CL" smtClean="0"/>
              <a:t>23-06-2026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671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51F5A-0CC9-8B90-3A23-A7201C617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989" y="1522989"/>
            <a:ext cx="9418320" cy="1691640"/>
          </a:xfrm>
        </p:spPr>
        <p:txBody>
          <a:bodyPr>
            <a:normAutofit/>
          </a:bodyPr>
          <a:lstStyle/>
          <a:p>
            <a:r>
              <a:rPr lang="es-CL" sz="5400" dirty="0"/>
              <a:t>Sistema de Administración Edificio El Mirador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BE5619-05EA-EE25-AA39-D1EBACC93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6822" y="4921370"/>
            <a:ext cx="9418320" cy="1691640"/>
          </a:xfrm>
        </p:spPr>
        <p:txBody>
          <a:bodyPr/>
          <a:lstStyle/>
          <a:p>
            <a:pPr algn="r"/>
            <a:r>
              <a:rPr lang="es-CL" dirty="0"/>
              <a:t>Nombre: Bastian Benjamín González Flores</a:t>
            </a:r>
          </a:p>
          <a:p>
            <a:pPr algn="r"/>
            <a:r>
              <a:rPr lang="es-CL" dirty="0"/>
              <a:t>Ramo: Ingeniería de Software</a:t>
            </a:r>
          </a:p>
          <a:p>
            <a:pPr algn="r"/>
            <a:r>
              <a:rPr lang="es-CL" dirty="0"/>
              <a:t>Profesor: Ricardo Pino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FF86704-2656-C7BD-9D46-02390F2B6975}"/>
              </a:ext>
            </a:extLst>
          </p:cNvPr>
          <p:cNvSpPr txBox="1">
            <a:spLocks/>
          </p:cNvSpPr>
          <p:nvPr/>
        </p:nvSpPr>
        <p:spPr>
          <a:xfrm>
            <a:off x="813989" y="3537704"/>
            <a:ext cx="9866203" cy="9079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800" dirty="0"/>
              <a:t>Evaluación Parcial 3 — Prototipo Funcional y Control de Calidad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6091B5A-05B1-91DB-3281-03D91011F118}"/>
              </a:ext>
            </a:extLst>
          </p:cNvPr>
          <p:cNvSpPr/>
          <p:nvPr/>
        </p:nvSpPr>
        <p:spPr>
          <a:xfrm flipV="1">
            <a:off x="813990" y="3274578"/>
            <a:ext cx="9866202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" name="Imagen 7" descr="Archivo:Logo DuocUC.svg - Wikipedia, la enciclopedia libre">
            <a:extLst>
              <a:ext uri="{FF2B5EF4-FFF2-40B4-BE49-F238E27FC236}">
                <a16:creationId xmlns:a16="http://schemas.microsoft.com/office/drawing/2014/main" id="{919B3829-A764-9530-4B84-C0985B085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733" y="182307"/>
            <a:ext cx="2642918" cy="64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66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E1178-21B9-99E2-54BF-67826869A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3414F2-C549-4BEE-B595-DEB5FB276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123" y="5382883"/>
            <a:ext cx="5242445" cy="396815"/>
          </a:xfrm>
        </p:spPr>
        <p:txBody>
          <a:bodyPr/>
          <a:lstStyle/>
          <a:p>
            <a:pPr marL="0" indent="0">
              <a:buNone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Desarrollado con Figma Make + Figma Design</a:t>
            </a:r>
          </a:p>
        </p:txBody>
      </p:sp>
      <p:pic>
        <p:nvPicPr>
          <p:cNvPr id="4" name="Imagen 3" descr="Archivo:Logo DuocUC.svg - Wikipedia, la enciclopedia libre">
            <a:extLst>
              <a:ext uri="{FF2B5EF4-FFF2-40B4-BE49-F238E27FC236}">
                <a16:creationId xmlns:a16="http://schemas.microsoft.com/office/drawing/2014/main" id="{A7DDD7A1-027E-A938-591C-3E43CEB9B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555" y="74233"/>
            <a:ext cx="2015822" cy="4955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73F66DA-D910-7BB7-3F67-7C3940CF2FD0}"/>
              </a:ext>
            </a:extLst>
          </p:cNvPr>
          <p:cNvSpPr txBox="1"/>
          <p:nvPr/>
        </p:nvSpPr>
        <p:spPr>
          <a:xfrm>
            <a:off x="196169" y="433402"/>
            <a:ext cx="6872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Herramienta de Prototipado: Figma/Figma Make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2E156A0-B75D-B860-A7DF-6BED0AA0C4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69" y="1233578"/>
            <a:ext cx="5899831" cy="369210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DFB5864-D939-0AEE-D4CB-5755969DED15}"/>
              </a:ext>
            </a:extLst>
          </p:cNvPr>
          <p:cNvSpPr txBox="1"/>
          <p:nvPr/>
        </p:nvSpPr>
        <p:spPr>
          <a:xfrm>
            <a:off x="8419382" y="5495026"/>
            <a:ext cx="29502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(Elementos extraídos de drive, archivo: 01_login, 02_Dashboard)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F616B18-B8C9-3341-0222-D9B6FC3B3C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513" y="1233578"/>
            <a:ext cx="5687940" cy="369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12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D992-798A-3C75-B55F-A73C9549C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Archivo:Logo DuocUC.svg - Wikipedia, la enciclopedia libre">
            <a:extLst>
              <a:ext uri="{FF2B5EF4-FFF2-40B4-BE49-F238E27FC236}">
                <a16:creationId xmlns:a16="http://schemas.microsoft.com/office/drawing/2014/main" id="{0824F7A7-3CF1-BEF7-F356-197F80EDA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75" y="136404"/>
            <a:ext cx="2015822" cy="4955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680A83E-6EF5-AB65-D1AD-969DC2DDC3FA}"/>
              </a:ext>
            </a:extLst>
          </p:cNvPr>
          <p:cNvSpPr txBox="1"/>
          <p:nvPr/>
        </p:nvSpPr>
        <p:spPr>
          <a:xfrm>
            <a:off x="278352" y="273086"/>
            <a:ext cx="6872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Flujo funcional - RF-24 Reporte de Morosidad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AB5A9E-AEBF-34A4-25CB-2FEFA3767FF4}"/>
              </a:ext>
            </a:extLst>
          </p:cNvPr>
          <p:cNvSpPr txBox="1"/>
          <p:nvPr/>
        </p:nvSpPr>
        <p:spPr>
          <a:xfrm>
            <a:off x="6385305" y="6118264"/>
            <a:ext cx="467375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(</a:t>
            </a:r>
            <a:r>
              <a:rPr lang="es-CL" sz="1100" dirty="0">
                <a:latin typeface="Arial" panose="020B0604020202020204" pitchFamily="34" charset="0"/>
                <a:cs typeface="Arial" panose="020B0604020202020204" pitchFamily="34" charset="0"/>
              </a:rPr>
              <a:t>Elementos extraídos de drive, archivos: </a:t>
            </a:r>
          </a:p>
          <a:p>
            <a:r>
              <a:rPr lang="es-CL" sz="1100" dirty="0">
                <a:latin typeface="Arial" panose="020B0604020202020204" pitchFamily="34" charset="0"/>
                <a:cs typeface="Arial" panose="020B0604020202020204" pitchFamily="34" charset="0"/>
              </a:rPr>
              <a:t>05_Filtros_Reporte.png, 06_Resultado_tabla_reporte.png, 07_Modal_Exportación.png, 08_Confirmacion_Exportación.png)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28FCCD50-3EED-CB97-4BAD-023FCB201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67" b="518"/>
          <a:stretch>
            <a:fillRect/>
          </a:stretch>
        </p:blipFill>
        <p:spPr>
          <a:xfrm>
            <a:off x="278352" y="861652"/>
            <a:ext cx="4319527" cy="360558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58EB18A-64D0-99C1-D7B9-AE83DEF7F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291" y="861652"/>
            <a:ext cx="7000357" cy="360558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F1A4095-17B7-2EF8-E43D-A6A682B3B6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5" t="24357" r="35744" b="24200"/>
          <a:stretch>
            <a:fillRect/>
          </a:stretch>
        </p:blipFill>
        <p:spPr>
          <a:xfrm>
            <a:off x="278352" y="4537999"/>
            <a:ext cx="2275067" cy="218042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122D4C1-73D4-A5CE-415C-58495DDD46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15" t="33197" r="35514" b="33388"/>
          <a:stretch>
            <a:fillRect/>
          </a:stretch>
        </p:blipFill>
        <p:spPr>
          <a:xfrm>
            <a:off x="2698680" y="4537999"/>
            <a:ext cx="3541364" cy="2180429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E5B46E3C-F6A5-5C0D-73CD-D572F69BF63F}"/>
              </a:ext>
            </a:extLst>
          </p:cNvPr>
          <p:cNvSpPr txBox="1"/>
          <p:nvPr/>
        </p:nvSpPr>
        <p:spPr>
          <a:xfrm>
            <a:off x="6836795" y="4969585"/>
            <a:ext cx="4673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Configurar filtros -&gt; Resultados -&gt; Exportar -&gt; Confirmación</a:t>
            </a:r>
          </a:p>
        </p:txBody>
      </p:sp>
    </p:spTree>
    <p:extLst>
      <p:ext uri="{BB962C8B-B14F-4D97-AF65-F5344CB8AC3E}">
        <p14:creationId xmlns:p14="http://schemas.microsoft.com/office/powerpoint/2010/main" val="2049661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A59C-1231-8F23-6A65-50006C0B4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Archivo:Logo DuocUC.svg - Wikipedia, la enciclopedia libre">
            <a:extLst>
              <a:ext uri="{FF2B5EF4-FFF2-40B4-BE49-F238E27FC236}">
                <a16:creationId xmlns:a16="http://schemas.microsoft.com/office/drawing/2014/main" id="{3887FCEE-F35E-3ACD-43B7-795207BB6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555" y="74233"/>
            <a:ext cx="2015822" cy="4955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625F814-5B1D-3C46-ECA1-BC1BA3EA8B46}"/>
              </a:ext>
            </a:extLst>
          </p:cNvPr>
          <p:cNvSpPr txBox="1"/>
          <p:nvPr/>
        </p:nvSpPr>
        <p:spPr>
          <a:xfrm>
            <a:off x="373350" y="416594"/>
            <a:ext cx="4811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Modelo de Calidad - ISO 25010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B9B5B1-1F7C-D7B7-B333-B94426039B87}"/>
              </a:ext>
            </a:extLst>
          </p:cNvPr>
          <p:cNvSpPr txBox="1"/>
          <p:nvPr/>
        </p:nvSpPr>
        <p:spPr>
          <a:xfrm>
            <a:off x="373350" y="867997"/>
            <a:ext cx="4054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Característica evaluada: Usabilidad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C269408-99F8-9F26-555B-F4795C6D172B}"/>
              </a:ext>
            </a:extLst>
          </p:cNvPr>
          <p:cNvSpPr/>
          <p:nvPr/>
        </p:nvSpPr>
        <p:spPr>
          <a:xfrm>
            <a:off x="373350" y="825116"/>
            <a:ext cx="5242445" cy="5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D9F794C2-EB53-074C-4B70-3FABB3547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50" y="1473922"/>
            <a:ext cx="8595360" cy="4558962"/>
          </a:xfrm>
        </p:spPr>
        <p:txBody>
          <a:bodyPr>
            <a:normAutofit/>
          </a:bodyPr>
          <a:lstStyle/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ISO 25010 → Define qué es calidad en software. </a:t>
            </a:r>
          </a:p>
          <a:p>
            <a:pPr marL="0" indent="0">
              <a:buNone/>
            </a:pPr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Subcaracteristicas: Inteligibilidad, facilidad de aprendizaje, operabilidad, protección frente a errores, estética de la interfaz y accesibilidad.</a:t>
            </a:r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Método: Evaluación Heurística de Nielsen → 10 principios para medir usabilidad</a:t>
            </a:r>
          </a:p>
          <a:p>
            <a:pPr marL="0" indent="0">
              <a:buNone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Resultados: </a:t>
            </a:r>
          </a:p>
          <a:p>
            <a:pPr marL="0" indent="0">
              <a:buNone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- 15 problemas identificados </a:t>
            </a:r>
          </a:p>
          <a:p>
            <a:pPr>
              <a:buFontTx/>
              <a:buChar char="-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5 de severidad 3 </a:t>
            </a:r>
          </a:p>
          <a:p>
            <a:pPr>
              <a:buFontTx/>
              <a:buChar char="-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10 de severidad 1-2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688C06A-A6BF-8F1C-9704-6BBDC8004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475" y="3709264"/>
            <a:ext cx="5760032" cy="273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7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CFB29-F6B7-FB88-E1CB-BC48653AE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Archivo:Logo DuocUC.svg - Wikipedia, la enciclopedia libre">
            <a:extLst>
              <a:ext uri="{FF2B5EF4-FFF2-40B4-BE49-F238E27FC236}">
                <a16:creationId xmlns:a16="http://schemas.microsoft.com/office/drawing/2014/main" id="{A91BD2A7-C908-C9E0-5B5F-16DBAD12B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555" y="74233"/>
            <a:ext cx="2015822" cy="4955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1022177-8832-CD91-C867-50ECE613400A}"/>
              </a:ext>
            </a:extLst>
          </p:cNvPr>
          <p:cNvSpPr txBox="1"/>
          <p:nvPr/>
        </p:nvSpPr>
        <p:spPr>
          <a:xfrm>
            <a:off x="373350" y="416594"/>
            <a:ext cx="4811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Cambios Realizados - Versionado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DEF8B2-A59B-B926-1257-B9EF394CB4ED}"/>
              </a:ext>
            </a:extLst>
          </p:cNvPr>
          <p:cNvSpPr txBox="1"/>
          <p:nvPr/>
        </p:nvSpPr>
        <p:spPr>
          <a:xfrm>
            <a:off x="373350" y="867997"/>
            <a:ext cx="4673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Herramientas de registro de versiones: Figma/GitHub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CA27CAD-7441-F5C3-3E9C-378C752A68C2}"/>
              </a:ext>
            </a:extLst>
          </p:cNvPr>
          <p:cNvSpPr/>
          <p:nvPr/>
        </p:nvSpPr>
        <p:spPr>
          <a:xfrm>
            <a:off x="373350" y="825116"/>
            <a:ext cx="5242445" cy="5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572B85B2-D514-A589-BA8B-8C7AAC87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50" y="1473922"/>
            <a:ext cx="8595360" cy="4558962"/>
          </a:xfrm>
        </p:spPr>
        <p:txBody>
          <a:bodyPr>
            <a:normAutofit/>
          </a:bodyPr>
          <a:lstStyle/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Se adoptó versionamiento semántico (MAJOR.MINOR.PATCH) combinado con el historial nativo de Figma. GitHub actúa como repositorio central de todos los artefactos del proyecto.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A29B545-A869-8C2B-2C41-9F0DF9D53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836" y="2739606"/>
            <a:ext cx="7411484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25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BC23-B9D2-2CC0-F993-3733B3BB5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Archivo:Logo DuocUC.svg - Wikipedia, la enciclopedia libre">
            <a:extLst>
              <a:ext uri="{FF2B5EF4-FFF2-40B4-BE49-F238E27FC236}">
                <a16:creationId xmlns:a16="http://schemas.microsoft.com/office/drawing/2014/main" id="{813669FF-40FA-9379-5B27-C121DFAE5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555" y="74233"/>
            <a:ext cx="2015822" cy="4955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5A116C1-B8F4-7EBF-5432-C76457A5FB55}"/>
              </a:ext>
            </a:extLst>
          </p:cNvPr>
          <p:cNvSpPr txBox="1"/>
          <p:nvPr/>
        </p:nvSpPr>
        <p:spPr>
          <a:xfrm>
            <a:off x="373350" y="416594"/>
            <a:ext cx="4811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346582-DC43-E6D1-1040-9F89C1ABFF26}"/>
              </a:ext>
            </a:extLst>
          </p:cNvPr>
          <p:cNvSpPr txBox="1"/>
          <p:nvPr/>
        </p:nvSpPr>
        <p:spPr>
          <a:xfrm>
            <a:off x="373350" y="867997"/>
            <a:ext cx="4673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Cierre técnico del Hito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E3371C-979A-F5A9-4AA4-38FC3B65EC8D}"/>
              </a:ext>
            </a:extLst>
          </p:cNvPr>
          <p:cNvSpPr/>
          <p:nvPr/>
        </p:nvSpPr>
        <p:spPr>
          <a:xfrm>
            <a:off x="373350" y="825116"/>
            <a:ext cx="5242445" cy="5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E2CC363A-995C-48F2-E7D2-767073239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50" y="1473922"/>
            <a:ext cx="8595360" cy="4558962"/>
          </a:xfrm>
        </p:spPr>
        <p:txBody>
          <a:bodyPr>
            <a:normAutofit/>
          </a:bodyPr>
          <a:lstStyle/>
          <a:p>
            <a:r>
              <a:rPr lang="es-CL" dirty="0"/>
              <a:t>La integración de la </a:t>
            </a:r>
            <a:r>
              <a:rPr lang="es-CL" i="1" dirty="0"/>
              <a:t>Evaluación Heurística de Nielsen</a:t>
            </a:r>
            <a:r>
              <a:rPr lang="es-CL" dirty="0"/>
              <a:t> bajo el estándar ISO/IEC 25010 permitió capturar de manera temprana 5 problemas mayores (Severidad 3) en los filtros y exportaciones (RF-20 / RF-24 / RF-29), evitando que estos errores de lógica escalaran a la fase de codificación, lo que habría duplicado los costos de desarrollo.</a:t>
            </a:r>
          </a:p>
          <a:p>
            <a:r>
              <a:rPr lang="es-CL" dirty="0">
                <a:latin typeface="Century Schoolbook (Cuerpo)"/>
                <a:cs typeface="Arial" panose="020B0604020202020204" pitchFamily="34" charset="0"/>
              </a:rPr>
              <a:t>Con el diseño e implementación del plan de pruebas con 36 casos de prueba mapeados con sus estados correspondientes, se asegura la trazabilidad y la contención de fallas del sistema.</a:t>
            </a:r>
          </a:p>
        </p:txBody>
      </p:sp>
    </p:spTree>
    <p:extLst>
      <p:ext uri="{BB962C8B-B14F-4D97-AF65-F5344CB8AC3E}">
        <p14:creationId xmlns:p14="http://schemas.microsoft.com/office/powerpoint/2010/main" val="2379087209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336</TotalTime>
  <Words>329</Words>
  <Application>Microsoft Office PowerPoint</Application>
  <PresentationFormat>Panorámica</PresentationFormat>
  <Paragraphs>28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Century Schoolbook</vt:lpstr>
      <vt:lpstr>Century Schoolbook (Cuerpo)</vt:lpstr>
      <vt:lpstr>Wingdings 2</vt:lpstr>
      <vt:lpstr>Vista</vt:lpstr>
      <vt:lpstr>Sistema de Administración Edificio El Mirador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BASTIAN BENJAMIN GONZALEZ FLORES</dc:creator>
  <cp:lastModifiedBy>BASTIAN BENJAMIN GONZALEZ FLORES</cp:lastModifiedBy>
  <cp:revision>3</cp:revision>
  <dcterms:created xsi:type="dcterms:W3CDTF">2026-06-23T01:07:07Z</dcterms:created>
  <dcterms:modified xsi:type="dcterms:W3CDTF">2026-06-23T06:56:58Z</dcterms:modified>
</cp:coreProperties>
</file>