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5" r:id="rId7"/>
    <p:sldId id="267" r:id="rId8"/>
    <p:sldId id="261" r:id="rId9"/>
    <p:sldId id="268" r:id="rId10"/>
    <p:sldId id="262" r:id="rId11"/>
    <p:sldId id="269" r:id="rId12"/>
    <p:sldId id="270" r:id="rId13"/>
    <p:sldId id="263" r:id="rId14"/>
    <p:sldId id="271" r:id="rId15"/>
    <p:sldId id="272" r:id="rId16"/>
    <p:sldId id="264" r:id="rId1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1940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DD12A-7A81-7C2B-1F27-70F7DD0D4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E4D323-3F30-5E30-3AA3-C4ACAE990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DF6E9-74A5-6BEF-82D5-383391DB4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7CBC3-AF29-D337-B238-20CD11DD5D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097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60534-04EE-5960-E478-32A418E8B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0DB91-4C19-83A8-A330-C595B45F2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CAD07-995F-D03D-1A9D-C5E19606E3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EEEDB-6B18-3F7F-EBB8-DA4DD22EE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76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14A65-967E-ED7F-5CDC-A90F0ADC2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413E24-71E7-3CB6-5378-A8DAE1457A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F9EFFE-AE73-FD68-D4FD-96CB982D9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768E3-692D-6E43-3574-97ABC9164A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03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B425F-BE07-3486-B062-C6F569FCE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1CA39-DD20-FC73-5624-6F3673AD5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B9B68C-6B66-F44F-E905-1B9464E97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67C30-4E9E-9DA7-D583-0E889D25E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409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7725E-66A6-1BC5-1515-51A13A64B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48430-1BB3-0D0C-FB4D-035F319B1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5CCBF-7FE1-2EED-B99E-E14F5669F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8AC15-21A2-4A28-3FED-FD027716C7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20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BBAC6-917D-9A3B-7F59-555AAF4B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A1E9C-3E17-1990-8404-80DD8380B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58A7B4-4B9E-258E-FBE8-564A497B9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BDF9B-016B-A8F9-77AB-DDD642FE9B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852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259BE-3D4A-1570-F7ED-4621D60E1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01504B-7F7D-83DD-81F0-3E2642B5B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C9AB6-2C2F-F1CB-F56B-84BE0779D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B7380-F7DE-88A0-26A9-9986F8B03B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217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5838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1444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23631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7258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97894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31395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16870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9726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4742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7436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06481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414950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6187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33106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68446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07572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63281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394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2093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0" y="3511296"/>
            <a:ext cx="9144000" cy="5486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548640" y="1340387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Administración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 El Mirador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96916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Modelamiento de Arquitectura del Software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Bastián González Flores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·   Ingeniería de Software  ·  RQY1102   ·   Evaluación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2.2</a:t>
            </a:r>
          </a:p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Profesor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Ricardo Pino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749808"/>
          </a:xfrm>
          <a:prstGeom prst="rect">
            <a:avLst/>
          </a:prstGeom>
          <a:solidFill>
            <a:schemeClr val="tx1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4864" cy="74980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75488" cy="475488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14" y="1268730"/>
            <a:ext cx="402336" cy="315468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8" name="Text 5"/>
          <p:cNvSpPr/>
          <p:nvPr/>
        </p:nvSpPr>
        <p:spPr>
          <a:xfrm>
            <a:off x="1024128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508760" y="12344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Software — Fases aplicadas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011680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365760" y="2011680"/>
            <a:ext cx="54864" cy="74980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457200" y="2148840"/>
            <a:ext cx="475488" cy="4754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txBody>
          <a:bodyPr/>
          <a:lstStyle/>
          <a:p>
            <a:endParaRPr lang="es-C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2194560"/>
            <a:ext cx="402336" cy="402336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14" name="Text 10"/>
          <p:cNvSpPr/>
          <p:nvPr/>
        </p:nvSpPr>
        <p:spPr>
          <a:xfrm>
            <a:off x="1024128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1508760" y="21945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4+1 — Patrones de diseño arquitectónico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65760" y="2971800"/>
            <a:ext cx="8412480" cy="749808"/>
          </a:xfrm>
          <a:prstGeom prst="rect">
            <a:avLst/>
          </a:prstGeom>
          <a:solidFill>
            <a:schemeClr val="tx1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54864" cy="74980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4"/>
          <p:cNvSpPr/>
          <p:nvPr/>
        </p:nvSpPr>
        <p:spPr>
          <a:xfrm>
            <a:off x="457200" y="3108960"/>
            <a:ext cx="475488" cy="4754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txBody>
          <a:bodyPr/>
          <a:lstStyle/>
          <a:p>
            <a:endParaRPr lang="es-CL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" y="3162059"/>
            <a:ext cx="402336" cy="402336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20" name="Text 15"/>
          <p:cNvSpPr/>
          <p:nvPr/>
        </p:nvSpPr>
        <p:spPr>
          <a:xfrm>
            <a:off x="1024128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1" name="Text 16"/>
          <p:cNvSpPr/>
          <p:nvPr/>
        </p:nvSpPr>
        <p:spPr>
          <a:xfrm>
            <a:off x="1508760" y="315468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arquitectónicas — Diagramas UML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365760" y="3931920"/>
            <a:ext cx="841248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18"/>
          <p:cNvSpPr/>
          <p:nvPr/>
        </p:nvSpPr>
        <p:spPr>
          <a:xfrm>
            <a:off x="365760" y="3931920"/>
            <a:ext cx="54864" cy="74980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19"/>
          <p:cNvSpPr/>
          <p:nvPr/>
        </p:nvSpPr>
        <p:spPr>
          <a:xfrm>
            <a:off x="457200" y="4069080"/>
            <a:ext cx="475488" cy="4754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txBody>
          <a:bodyPr/>
          <a:lstStyle/>
          <a:p>
            <a:endParaRPr lang="es-CL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696" y="4096512"/>
            <a:ext cx="402336" cy="402336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26" name="Text 20"/>
          <p:cNvSpPr/>
          <p:nvPr/>
        </p:nvSpPr>
        <p:spPr>
          <a:xfrm>
            <a:off x="1024128" y="4023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7" name="Text 21"/>
          <p:cNvSpPr/>
          <p:nvPr/>
        </p:nvSpPr>
        <p:spPr>
          <a:xfrm>
            <a:off x="1508760" y="411480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de calidad aplicados al diseño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8">
            <a:extLst>
              <a:ext uri="{FF2B5EF4-FFF2-40B4-BE49-F238E27FC236}">
                <a16:creationId xmlns:a16="http://schemas.microsoft.com/office/drawing/2014/main" id="{B9A6762F-2FDC-109B-FAA2-059D26916A5E}"/>
              </a:ext>
            </a:extLst>
          </p:cNvPr>
          <p:cNvSpPr/>
          <p:nvPr/>
        </p:nvSpPr>
        <p:spPr>
          <a:xfrm>
            <a:off x="6263640" y="932688"/>
            <a:ext cx="2743200" cy="1188720"/>
          </a:xfrm>
          <a:prstGeom prst="rect">
            <a:avLst/>
          </a:prstGeom>
          <a:solidFill>
            <a:schemeClr val="tx1">
              <a:lumMod val="85000"/>
            </a:schemeClr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dirty="0"/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6D2ED705-6B27-0271-9E1A-BE88885CF433}"/>
              </a:ext>
            </a:extLst>
          </p:cNvPr>
          <p:cNvSpPr/>
          <p:nvPr/>
        </p:nvSpPr>
        <p:spPr>
          <a:xfrm>
            <a:off x="6263640" y="932688"/>
            <a:ext cx="457200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Software — Fases Aplicadas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6358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MODELO EN CASCADA  |  9 FASES DEFINIDAS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743200" cy="1188720"/>
          </a:xfrm>
          <a:prstGeom prst="rect">
            <a:avLst/>
          </a:prstGeom>
          <a:solidFill>
            <a:schemeClr val="tx1">
              <a:lumMod val="85000"/>
            </a:schemeClr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457200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56616" y="13167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10241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Requerimientos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392" y="15727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30 – </a:t>
            </a:r>
            <a:r>
              <a:rPr lang="en-US" sz="90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r>
              <a:rPr lang="en-US" sz="9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932688"/>
            <a:ext cx="2743200" cy="1188720"/>
          </a:xfrm>
          <a:prstGeom prst="rect">
            <a:avLst/>
          </a:prstGeom>
          <a:solidFill>
            <a:schemeClr val="tx1">
              <a:lumMod val="85000"/>
            </a:schemeClr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3291840" y="932688"/>
            <a:ext cx="457200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328416" y="13167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22192" y="10241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y Patrones Arq.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22192" y="15727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r>
              <a:rPr lang="en-US" sz="9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 – </a:t>
            </a:r>
            <a:r>
              <a:rPr lang="en-US" sz="900" dirty="0" err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r>
              <a:rPr lang="en-US" sz="9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0216" y="13167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93992" y="10241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4+1 y Vistas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93992" y="15727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 – May 16 </a:t>
            </a:r>
          </a:p>
        </p:txBody>
      </p:sp>
      <p:sp>
        <p:nvSpPr>
          <p:cNvPr id="20" name="Shape 18"/>
          <p:cNvSpPr/>
          <p:nvPr/>
        </p:nvSpPr>
        <p:spPr>
          <a:xfrm>
            <a:off x="320040" y="2240280"/>
            <a:ext cx="2743200" cy="1188720"/>
          </a:xfrm>
          <a:prstGeom prst="rect">
            <a:avLst/>
          </a:prstGeom>
          <a:solidFill>
            <a:schemeClr val="tx1">
              <a:lumMod val="85000"/>
            </a:schemeClr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dirty="0"/>
          </a:p>
        </p:txBody>
      </p:sp>
      <p:sp>
        <p:nvSpPr>
          <p:cNvPr id="21" name="Shape 19"/>
          <p:cNvSpPr/>
          <p:nvPr/>
        </p:nvSpPr>
        <p:spPr>
          <a:xfrm>
            <a:off x="320040" y="2240280"/>
            <a:ext cx="457200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356616" y="26243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Calidad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0392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17 – May 23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2240280"/>
            <a:ext cx="2743200" cy="1188720"/>
          </a:xfrm>
          <a:prstGeom prst="rect">
            <a:avLst/>
          </a:prstGeom>
          <a:solidFill>
            <a:schemeClr val="tx1">
              <a:lumMod val="85000"/>
            </a:schemeClr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3291840" y="2240280"/>
            <a:ext cx="457200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3328416" y="26243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22192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22192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24 – May 30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63640" y="2240280"/>
            <a:ext cx="2743200" cy="1188720"/>
          </a:xfrm>
          <a:prstGeom prst="rect">
            <a:avLst/>
          </a:prstGeom>
          <a:solidFill>
            <a:schemeClr val="tx1">
              <a:lumMod val="85000"/>
            </a:schemeClr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6263640" y="2240280"/>
            <a:ext cx="457200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6300216" y="26243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93992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Heurística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93992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31 – Jun 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566160"/>
            <a:ext cx="2743200" cy="1188720"/>
          </a:xfrm>
          <a:prstGeom prst="rect">
            <a:avLst/>
          </a:prstGeom>
          <a:solidFill>
            <a:schemeClr val="tx1">
              <a:lumMod val="85000"/>
            </a:schemeClr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Shape 34"/>
          <p:cNvSpPr/>
          <p:nvPr/>
        </p:nvSpPr>
        <p:spPr>
          <a:xfrm>
            <a:off x="320040" y="3547872"/>
            <a:ext cx="457200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356616" y="39319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0392" y="36393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0392" y="41879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6 – Jun 10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91840" y="3547872"/>
            <a:ext cx="2743200" cy="1188720"/>
          </a:xfrm>
          <a:prstGeom prst="rect">
            <a:avLst/>
          </a:prstGeom>
          <a:solidFill>
            <a:schemeClr val="tx1">
              <a:lumMod val="85000"/>
            </a:schemeClr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1" name="Shape 39"/>
          <p:cNvSpPr/>
          <p:nvPr/>
        </p:nvSpPr>
        <p:spPr>
          <a:xfrm>
            <a:off x="3291840" y="3547872"/>
            <a:ext cx="457200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40"/>
          <p:cNvSpPr/>
          <p:nvPr/>
        </p:nvSpPr>
        <p:spPr>
          <a:xfrm>
            <a:off x="3328416" y="39319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822192" y="36393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Anexos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22192" y="41879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11 – Jun 17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63640" y="3547872"/>
            <a:ext cx="2743200" cy="1188720"/>
          </a:xfrm>
          <a:prstGeom prst="rect">
            <a:avLst/>
          </a:prstGeom>
          <a:solidFill>
            <a:schemeClr val="tx1">
              <a:lumMod val="85000"/>
            </a:schemeClr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6" name="Shape 44"/>
          <p:cNvSpPr/>
          <p:nvPr/>
        </p:nvSpPr>
        <p:spPr>
          <a:xfrm>
            <a:off x="6263640" y="3547872"/>
            <a:ext cx="457200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5"/>
          <p:cNvSpPr/>
          <p:nvPr/>
        </p:nvSpPr>
        <p:spPr>
          <a:xfrm>
            <a:off x="6300216" y="39319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793992" y="363931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y Entrega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93992" y="41879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18 – Jun 21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Fase completada a la fecha de entrega (16/05/2026)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11357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4+1 — Patrones de Diseño Arquitectónico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82489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 |  N-TIER / LAYERED ARCHITECTURE   |   PE/LON/DA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adopta el estilo Arquitectura en Capas (N-Tier), complementado con el Modelo 4+1 para documentar las cinco perspectivas del sistema.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1716" y="1463040"/>
            <a:ext cx="1719072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 dirty="0"/>
          </a:p>
        </p:txBody>
      </p:sp>
      <p:sp>
        <p:nvSpPr>
          <p:cNvPr id="7" name="Text 5"/>
          <p:cNvSpPr/>
          <p:nvPr/>
        </p:nvSpPr>
        <p:spPr>
          <a:xfrm>
            <a:off x="185706" y="1561514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2282" y="2194560"/>
            <a:ext cx="1536192" cy="274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222282" y="3050246"/>
            <a:ext cx="1572768" cy="728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que articulan y validan todas las demás vistas.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62764" y="1456623"/>
            <a:ext cx="1719072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 dirty="0"/>
          </a:p>
        </p:txBody>
      </p:sp>
      <p:sp>
        <p:nvSpPr>
          <p:cNvPr id="12" name="Text 10"/>
          <p:cNvSpPr/>
          <p:nvPr/>
        </p:nvSpPr>
        <p:spPr>
          <a:xfrm>
            <a:off x="2035213" y="1561514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48256" y="2203192"/>
            <a:ext cx="1536192" cy="274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2035213" y="3076928"/>
            <a:ext cx="1572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estática: clases, herencia, asociaciones del dominio.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03704" y="438912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8781" y="1463040"/>
            <a:ext cx="1719072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3842733" y="155448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79309" y="2208276"/>
            <a:ext cx="1536192" cy="274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879309" y="3056823"/>
            <a:ext cx="1572768" cy="684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en componentes, módulos y paquetes de código.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32504" y="438912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70302" y="1463040"/>
            <a:ext cx="1719072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 dirty="0"/>
          </a:p>
        </p:txBody>
      </p:sp>
      <p:sp>
        <p:nvSpPr>
          <p:cNvPr id="22" name="Text 20"/>
          <p:cNvSpPr/>
          <p:nvPr/>
        </p:nvSpPr>
        <p:spPr>
          <a:xfrm>
            <a:off x="5625166" y="1561514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92183" y="2194560"/>
            <a:ext cx="1536192" cy="274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5673895" y="3127853"/>
            <a:ext cx="15727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dinámicos en tiempo de ejecución: actividades y decisiones.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61304" y="438912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59633" y="1463040"/>
            <a:ext cx="1719072" cy="320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7435356" y="1554480"/>
            <a:ext cx="1609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55568" y="2180844"/>
            <a:ext cx="1536192" cy="2743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7426915" y="3129895"/>
            <a:ext cx="15727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nodos de hardware y protocolos de comunicación.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90104" y="438912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2235" y="4658627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chemeClr val="bg1"/>
                </a:solidFill>
              </a:rPr>
              <a:t>PATRONES DE DISEÑO COMPLEMENTARIOS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0040" y="4846320"/>
            <a:ext cx="2103120" cy="237744"/>
          </a:xfrm>
          <a:prstGeom prst="rect">
            <a:avLst/>
          </a:prstGeom>
          <a:solidFill>
            <a:srgbClr val="E8F4F8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320040" y="48463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MVC (Presentación)</a:t>
            </a:r>
          </a:p>
        </p:txBody>
      </p:sp>
      <p:sp>
        <p:nvSpPr>
          <p:cNvPr id="34" name="Shape 32"/>
          <p:cNvSpPr/>
          <p:nvPr/>
        </p:nvSpPr>
        <p:spPr>
          <a:xfrm>
            <a:off x="2532888" y="4846320"/>
            <a:ext cx="2103120" cy="237744"/>
          </a:xfrm>
          <a:prstGeom prst="rect">
            <a:avLst/>
          </a:prstGeom>
          <a:solidFill>
            <a:srgbClr val="E8F4F8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2532888" y="48463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Repositorio (Datos)</a:t>
            </a:r>
          </a:p>
        </p:txBody>
      </p:sp>
      <p:sp>
        <p:nvSpPr>
          <p:cNvPr id="36" name="Shape 34"/>
          <p:cNvSpPr/>
          <p:nvPr/>
        </p:nvSpPr>
        <p:spPr>
          <a:xfrm>
            <a:off x="4745736" y="4846320"/>
            <a:ext cx="2103120" cy="237744"/>
          </a:xfrm>
          <a:prstGeom prst="rect">
            <a:avLst/>
          </a:prstGeom>
          <a:solidFill>
            <a:srgbClr val="E8F4F8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4745736" y="48463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Observador (Notificaciones)</a:t>
            </a:r>
          </a:p>
        </p:txBody>
      </p:sp>
      <p:sp>
        <p:nvSpPr>
          <p:cNvPr id="38" name="Shape 36"/>
          <p:cNvSpPr/>
          <p:nvPr/>
        </p:nvSpPr>
        <p:spPr>
          <a:xfrm>
            <a:off x="6958584" y="4846320"/>
            <a:ext cx="2103120" cy="237744"/>
          </a:xfrm>
          <a:prstGeom prst="rect">
            <a:avLst/>
          </a:prstGeom>
          <a:solidFill>
            <a:srgbClr val="E8F4F8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6958584" y="48463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</a:rPr>
              <a:t>Fachada (Integración externa)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31878" y="15931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Escenario — Casos de Uso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30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4.1 VISTA DE ESCENARIO  |  RF-22 AL RF-30  |  NÚCLEO: RF-24 | MA.CON | DP 4 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4023360" cy="3566160"/>
          </a:xfrm>
          <a:prstGeom prst="rect">
            <a:avLst/>
          </a:prstGeom>
          <a:solidFill>
            <a:schemeClr val="tx1">
              <a:lumMod val="85000"/>
            </a:scheme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4023360" cy="347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84048" y="96926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Diagrama CU General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280160"/>
            <a:ext cx="389534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Módulo: Reportes y Análisis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RF-22  Generar informe general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18105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RF-23  Reporte financiero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0482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RF-24  Reporte de morosidad ★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RF-25  Reporte de pagos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5237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RF-26  Reporte de gastos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2761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RF-27  Estado de cuenta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29992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RF-28  Reporte de solicitudes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32369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RF-29  Exportar «extend»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RF-30  Programar «include»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84048" y="4206240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bg1"/>
                </a:solidFill>
              </a:rPr>
              <a:t>Actores: Administrador · Comité · Residente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00600" y="932688"/>
            <a:ext cx="4023360" cy="3566160"/>
          </a:xfrm>
          <a:prstGeom prst="rect">
            <a:avLst/>
          </a:prstGeom>
          <a:solidFill>
            <a:schemeClr val="tx1">
              <a:lumMod val="85000"/>
            </a:scheme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4800600" y="932688"/>
            <a:ext cx="4023360" cy="347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4864608" y="96926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RF-24: Reporte de Morosidad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128016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Caso de Uso Específico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37760" y="1572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INCLUDES (obligatorios)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37760" y="17922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→ Autenticar y verificar permisos</a:t>
            </a:r>
          </a:p>
        </p:txBody>
      </p:sp>
      <p:sp>
        <p:nvSpPr>
          <p:cNvPr id="25" name="Text 23"/>
          <p:cNvSpPr/>
          <p:nvPr/>
        </p:nvSpPr>
        <p:spPr>
          <a:xfrm>
            <a:off x="4937760" y="20299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→ Configurar filtros del </a:t>
            </a:r>
            <a:r>
              <a:rPr lang="en-US" sz="950" dirty="0" err="1">
                <a:solidFill>
                  <a:schemeClr val="bg1"/>
                </a:solidFill>
              </a:rPr>
              <a:t>reporte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37760" y="2267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→ Consultar estados de morosidad</a:t>
            </a:r>
          </a:p>
        </p:txBody>
      </p:sp>
      <p:sp>
        <p:nvSpPr>
          <p:cNvPr id="27" name="Text 25"/>
          <p:cNvSpPr/>
          <p:nvPr/>
        </p:nvSpPr>
        <p:spPr>
          <a:xfrm>
            <a:off x="4937760" y="25054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→ Cruzar con registros de pagos</a:t>
            </a:r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→ Calcular indicadores</a:t>
            </a:r>
          </a:p>
        </p:txBody>
      </p:sp>
      <p:sp>
        <p:nvSpPr>
          <p:cNvPr id="29" name="Text 27"/>
          <p:cNvSpPr/>
          <p:nvPr/>
        </p:nvSpPr>
        <p:spPr>
          <a:xfrm>
            <a:off x="4937760" y="301752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EXTENDS (opcionales)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4937760" y="32369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→ Exportar </a:t>
            </a:r>
            <a:r>
              <a:rPr lang="en-US" sz="950" dirty="0" err="1">
                <a:solidFill>
                  <a:schemeClr val="bg1"/>
                </a:solidFill>
              </a:rPr>
              <a:t>reporte</a:t>
            </a:r>
            <a:r>
              <a:rPr lang="en-US" sz="950" dirty="0">
                <a:solidFill>
                  <a:schemeClr val="bg1"/>
                </a:solidFill>
              </a:rPr>
              <a:t> (RF-29)</a:t>
            </a:r>
          </a:p>
        </p:txBody>
      </p:sp>
      <p:sp>
        <p:nvSpPr>
          <p:cNvPr id="31" name="Text 29"/>
          <p:cNvSpPr/>
          <p:nvPr/>
        </p:nvSpPr>
        <p:spPr>
          <a:xfrm>
            <a:off x="4937760" y="34747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→ Programar generación automática (RF-30)</a:t>
            </a:r>
          </a:p>
        </p:txBody>
      </p:sp>
      <p:sp>
        <p:nvSpPr>
          <p:cNvPr id="32" name="Text 30"/>
          <p:cNvSpPr/>
          <p:nvPr/>
        </p:nvSpPr>
        <p:spPr>
          <a:xfrm>
            <a:off x="4864608" y="4206240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bg1"/>
                </a:solidFill>
              </a:rPr>
              <a:t>Actores: Administrador · Comité · Residente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bg1"/>
                </a:solidFill>
              </a:rPr>
              <a:t>★ RF-24 es el caso de uso de mayor convergencia funcional — depende de RF-10, RF-07, RF-25, RF-29.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DF4D4-D340-24AF-38AC-AA3B200EC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28C6AD6-5B4E-6E7E-8EE2-96C9B6586156}"/>
              </a:ext>
            </a:extLst>
          </p:cNvPr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bg1"/>
              </a:solidFill>
            </a:endParaRPr>
          </a:p>
        </p:txBody>
      </p:sp>
      <p:pic>
        <p:nvPicPr>
          <p:cNvPr id="56" name="Imagen 55">
            <a:extLst>
              <a:ext uri="{FF2B5EF4-FFF2-40B4-BE49-F238E27FC236}">
                <a16:creationId xmlns:a16="http://schemas.microsoft.com/office/drawing/2014/main" id="{6DCB01C8-33C0-52CF-6FB5-0E8997053F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3468"/>
          <a:stretch>
            <a:fillRect/>
          </a:stretch>
        </p:blipFill>
        <p:spPr>
          <a:xfrm>
            <a:off x="927181" y="828235"/>
            <a:ext cx="7289637" cy="4315266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F1478A70-749B-810F-60BE-291B05E1F2D0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72A6F976-2ABF-4FFB-F3B5-3937CD8D7446}"/>
              </a:ext>
            </a:extLst>
          </p:cNvPr>
          <p:cNvSpPr txBox="1"/>
          <p:nvPr/>
        </p:nvSpPr>
        <p:spPr>
          <a:xfrm>
            <a:off x="193430" y="226814"/>
            <a:ext cx="3675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Diagrama CU General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236875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4040E-E6F5-9E74-B519-DF66D8DB9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8B972E07-68DA-E0A7-610A-E61EB9368663}"/>
              </a:ext>
            </a:extLst>
          </p:cNvPr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7F5173B0-C11D-EAA2-1A37-2F3679E2CEE7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558689A9-7CED-A532-1129-870C9ADDC419}"/>
              </a:ext>
            </a:extLst>
          </p:cNvPr>
          <p:cNvSpPr txBox="1"/>
          <p:nvPr/>
        </p:nvSpPr>
        <p:spPr>
          <a:xfrm>
            <a:off x="193430" y="214291"/>
            <a:ext cx="3675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Diagrama CU Especifico </a:t>
            </a:r>
            <a:endParaRPr lang="es-CL" dirty="0"/>
          </a:p>
          <a:p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D7B42A6-D18D-DA0F-83E1-B789BC3D1FE2}"/>
              </a:ext>
            </a:extLst>
          </p:cNvPr>
          <p:cNvSpPr txBox="1"/>
          <p:nvPr/>
        </p:nvSpPr>
        <p:spPr>
          <a:xfrm>
            <a:off x="6351563" y="257591"/>
            <a:ext cx="3205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RF-24  Reporte de morosidad ★</a:t>
            </a:r>
            <a:endParaRPr lang="en-US" sz="1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C0C9FCD-14EF-3186-3F07-F3826DD9D6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33"/>
          <a:stretch>
            <a:fillRect/>
          </a:stretch>
        </p:blipFill>
        <p:spPr>
          <a:xfrm>
            <a:off x="957943" y="833510"/>
            <a:ext cx="7053607" cy="430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69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93192" y="1874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Lógica — Diagrama de Clases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29768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4.2 VISTA LÓGICA  |  14 CLASES  |  3 SUBCLASES REPORTE  |  2 INTERFACES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14800" cy="1828800"/>
          </a:xfrm>
          <a:prstGeom prst="rect">
            <a:avLst/>
          </a:prstGeom>
          <a:solidFill>
            <a:schemeClr val="tx1">
              <a:lumMod val="75000"/>
            </a:scheme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4114800" cy="29260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93192" y="1024128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Dominio Central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371600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• Edificio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700784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• Unidad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2029968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• Usuario (abstracta)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2359152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• Administrador · Residente · PersonalEdificio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987552"/>
            <a:ext cx="4114800" cy="1828800"/>
          </a:xfrm>
          <a:prstGeom prst="rect">
            <a:avLst/>
          </a:prstGeom>
          <a:solidFill>
            <a:schemeClr val="tx1">
              <a:lumMod val="75000"/>
            </a:scheme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663440" y="987552"/>
            <a:ext cx="4114800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736592" y="1024128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Módulo Financiero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73168" y="1371600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• GastoComun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73168" y="1700784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• GastoExtraordinario (hereda GastoComun)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73168" y="2029968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• Pago (asociado a Unidad + confirmación externa)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73168" y="2359152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• Morosidad (activación automática)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999232"/>
            <a:ext cx="4114800" cy="1828800"/>
          </a:xfrm>
          <a:prstGeom prst="rect">
            <a:avLst/>
          </a:prstGeom>
          <a:solidFill>
            <a:schemeClr val="tx1">
              <a:lumMod val="75000"/>
            </a:scheme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320040" y="2999232"/>
            <a:ext cx="4114800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393192" y="3035808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Módulo Reportes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" y="3383280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• Reporte (abstracta)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" y="3712464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• ReporteMorosidad · ReporteFinanciero · ReporteSolicitudes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999232"/>
            <a:ext cx="4114800" cy="1828800"/>
          </a:xfrm>
          <a:prstGeom prst="rect">
            <a:avLst/>
          </a:prstGeom>
          <a:solidFill>
            <a:schemeClr val="tx1">
              <a:lumMod val="75000"/>
            </a:scheme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4663440" y="2999232"/>
            <a:ext cx="4114800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736592" y="3035808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Integración Externa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73168" y="3383280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• ISistemaPago (interface → WebPay)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73168" y="3712464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• IServicioNotificaciones (interface → Email/SMS)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73168" y="4041648"/>
            <a:ext cx="38953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• Notificacion (asociada a Residente)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" y="48554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bg1"/>
                </a:solidFill>
              </a:rPr>
              <a:t>Relaciones principales: Generalización (herencia) · Asociación 1→* · Dependency «use» hacia interfaces externas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A6A61-F257-D969-C9BE-9B42EBEEA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BDF84CEA-86BE-E3C8-5F29-4EE9FB4160BB}"/>
              </a:ext>
            </a:extLst>
          </p:cNvPr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767A26B-3178-E865-8F12-8499FB16E2D0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72B150B7-C26D-389B-5086-85CE907A0C65}"/>
              </a:ext>
            </a:extLst>
          </p:cNvPr>
          <p:cNvSpPr txBox="1"/>
          <p:nvPr/>
        </p:nvSpPr>
        <p:spPr>
          <a:xfrm>
            <a:off x="193430" y="214291"/>
            <a:ext cx="3675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Diagrama de Clases </a:t>
            </a:r>
            <a:endParaRPr lang="es-CL" dirty="0"/>
          </a:p>
          <a:p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1D89F84-1B19-D4B4-9D93-C7BCC4351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932" y="824836"/>
            <a:ext cx="6028135" cy="431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387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74904" y="10515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Implementación — Componentes y Paquetes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2816" y="576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4.3 VISTA DE IMPLEMENTACIÓN  |  ARQUITECTURA EN CAPAS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chemeClr val="bg1"/>
                </a:solidFill>
              </a:rPr>
              <a:t>DIAGRAMA DE COMPONENTES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225296"/>
            <a:ext cx="1993392" cy="1024128"/>
          </a:xfrm>
          <a:prstGeom prst="rect">
            <a:avLst/>
          </a:prstGeom>
          <a:solidFill>
            <a:schemeClr val="tx1">
              <a:lumMod val="85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93192" y="137160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Aplicación Web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93192" y="173736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Frontend — HTTPS</a:t>
            </a:r>
            <a:endParaRPr lang="en-US" sz="850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496312" y="1225296"/>
            <a:ext cx="1993392" cy="1024128"/>
          </a:xfrm>
          <a:prstGeom prst="rect">
            <a:avLst/>
          </a:prstGeom>
          <a:solidFill>
            <a:schemeClr val="tx1">
              <a:lumMod val="85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2569464" y="137160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API REST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569464" y="173736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Backend — Punto de entrada</a:t>
            </a:r>
            <a:endParaRPr lang="en-US" sz="850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2432304"/>
            <a:ext cx="1993392" cy="1024128"/>
          </a:xfrm>
          <a:prstGeom prst="rect">
            <a:avLst/>
          </a:prstGeom>
          <a:solidFill>
            <a:schemeClr val="tx1">
              <a:lumMod val="85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93192" y="257860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Módulo Financiero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93192" y="294436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Pagos + Morosidad</a:t>
            </a:r>
            <a:endParaRPr lang="en-US" sz="850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496312" y="2432304"/>
            <a:ext cx="1993392" cy="1024128"/>
          </a:xfrm>
          <a:prstGeom prst="rect">
            <a:avLst/>
          </a:prstGeom>
          <a:solidFill>
            <a:schemeClr val="tx1">
              <a:lumMod val="85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2569464" y="257860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Módulo Reportes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69464" y="294436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Generación + Exportación</a:t>
            </a:r>
            <a:endParaRPr lang="en-US" sz="850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3639312"/>
            <a:ext cx="1993392" cy="1024128"/>
          </a:xfrm>
          <a:prstGeom prst="rect">
            <a:avLst/>
          </a:prstGeom>
          <a:solidFill>
            <a:schemeClr val="tx1">
              <a:lumMod val="85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93192" y="378561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Base de Datos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93192" y="415137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PostgreSQL</a:t>
            </a:r>
            <a:endParaRPr lang="en-US" sz="850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496312" y="3639312"/>
            <a:ext cx="1993392" cy="1024128"/>
          </a:xfrm>
          <a:prstGeom prst="rect">
            <a:avLst/>
          </a:prstGeom>
          <a:solidFill>
            <a:schemeClr val="tx1">
              <a:lumMod val="85000"/>
            </a:schemeClr>
          </a:solidFill>
          <a:ln w="12700">
            <a:solidFill>
              <a:schemeClr val="bg1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2569464" y="378561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WebPay (Externo)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2569464" y="415137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chemeClr val="bg1">
                    <a:lumMod val="75000"/>
                    <a:lumOff val="25000"/>
                  </a:schemeClr>
                </a:solidFill>
              </a:rPr>
              <a:t>«external system»</a:t>
            </a:r>
            <a:endParaRPr lang="en-US" sz="850" dirty="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00600" y="9875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chemeClr val="bg1"/>
                </a:solidFill>
              </a:rPr>
              <a:t>DIAGRAMA DE PAQUETES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00600" y="1225296"/>
            <a:ext cx="4114800" cy="914400"/>
          </a:xfrm>
          <a:prstGeom prst="rect">
            <a:avLst/>
          </a:prstGeom>
          <a:solidFill>
            <a:schemeClr val="tx1">
              <a:lumMod val="85000"/>
            </a:schemeClr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4800600" y="1225296"/>
            <a:ext cx="5486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4919472" y="12984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Presentación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19472" y="15727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 WebApp / UI</a:t>
            </a:r>
          </a:p>
        </p:txBody>
      </p:sp>
      <p:sp>
        <p:nvSpPr>
          <p:cNvPr id="29" name="Text 27"/>
          <p:cNvSpPr/>
          <p:nvPr/>
        </p:nvSpPr>
        <p:spPr>
          <a:xfrm>
            <a:off x="4919472" y="17922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 Vistas Administrativas</a:t>
            </a:r>
          </a:p>
        </p:txBody>
      </p:sp>
      <p:sp>
        <p:nvSpPr>
          <p:cNvPr id="30" name="Shape 28"/>
          <p:cNvSpPr/>
          <p:nvPr/>
        </p:nvSpPr>
        <p:spPr>
          <a:xfrm>
            <a:off x="4800600" y="2185416"/>
            <a:ext cx="4114800" cy="914400"/>
          </a:xfrm>
          <a:prstGeom prst="rect">
            <a:avLst/>
          </a:prstGeom>
          <a:solidFill>
            <a:schemeClr val="tx1">
              <a:lumMod val="85000"/>
            </a:schemeClr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4800600" y="2185416"/>
            <a:ext cx="54864" cy="9144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">
            <a:solidFill>
              <a:schemeClr val="bg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4919472" y="22585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Lógica de Negocio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19472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 Serv. Gestión · Financiero</a:t>
            </a:r>
          </a:p>
        </p:txBody>
      </p:sp>
      <p:sp>
        <p:nvSpPr>
          <p:cNvPr id="34" name="Text 32"/>
          <p:cNvSpPr/>
          <p:nvPr/>
        </p:nvSpPr>
        <p:spPr>
          <a:xfrm>
            <a:off x="4919472" y="27523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 Serv. Reportes · Notificaciones</a:t>
            </a:r>
          </a:p>
        </p:txBody>
      </p:sp>
      <p:sp>
        <p:nvSpPr>
          <p:cNvPr id="35" name="Shape 33"/>
          <p:cNvSpPr/>
          <p:nvPr/>
        </p:nvSpPr>
        <p:spPr>
          <a:xfrm>
            <a:off x="4800600" y="3145536"/>
            <a:ext cx="4114800" cy="914400"/>
          </a:xfrm>
          <a:prstGeom prst="rect">
            <a:avLst/>
          </a:prstGeom>
          <a:solidFill>
            <a:schemeClr val="tx1">
              <a:lumMod val="85000"/>
            </a:schemeClr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Shape 34"/>
          <p:cNvSpPr/>
          <p:nvPr/>
        </p:nvSpPr>
        <p:spPr>
          <a:xfrm>
            <a:off x="4800600" y="3145536"/>
            <a:ext cx="54864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4919472" y="32186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Datos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4919472" y="34930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 Repositorios</a:t>
            </a:r>
          </a:p>
        </p:txBody>
      </p:sp>
      <p:sp>
        <p:nvSpPr>
          <p:cNvPr id="39" name="Text 37"/>
          <p:cNvSpPr/>
          <p:nvPr/>
        </p:nvSpPr>
        <p:spPr>
          <a:xfrm>
            <a:off x="4919472" y="37124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 Entidades / Modelos</a:t>
            </a:r>
          </a:p>
        </p:txBody>
      </p:sp>
      <p:sp>
        <p:nvSpPr>
          <p:cNvPr id="40" name="Shape 38"/>
          <p:cNvSpPr/>
          <p:nvPr/>
        </p:nvSpPr>
        <p:spPr>
          <a:xfrm>
            <a:off x="4800600" y="4105656"/>
            <a:ext cx="4114800" cy="914400"/>
          </a:xfrm>
          <a:prstGeom prst="rect">
            <a:avLst/>
          </a:prstGeom>
          <a:solidFill>
            <a:schemeClr val="tx1">
              <a:lumMod val="85000"/>
            </a:schemeClr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1" name="Shape 39"/>
          <p:cNvSpPr/>
          <p:nvPr/>
        </p:nvSpPr>
        <p:spPr>
          <a:xfrm>
            <a:off x="4800600" y="4105656"/>
            <a:ext cx="54864" cy="9144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">
            <a:solidFill>
              <a:schemeClr val="bg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40"/>
          <p:cNvSpPr/>
          <p:nvPr/>
        </p:nvSpPr>
        <p:spPr>
          <a:xfrm>
            <a:off x="4919472" y="41788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</a:rPr>
              <a:t>Integración (Externo)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4919472" y="44531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 Adaptador Pagos</a:t>
            </a:r>
          </a:p>
        </p:txBody>
      </p:sp>
      <p:sp>
        <p:nvSpPr>
          <p:cNvPr id="44" name="Text 42"/>
          <p:cNvSpPr/>
          <p:nvPr/>
        </p:nvSpPr>
        <p:spPr>
          <a:xfrm>
            <a:off x="4919472" y="46725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 Adaptador Notificaciones</a:t>
            </a:r>
          </a:p>
        </p:txBody>
      </p:sp>
      <p:sp>
        <p:nvSpPr>
          <p:cNvPr id="45" name="Text 43"/>
          <p:cNvSpPr/>
          <p:nvPr/>
        </p:nvSpPr>
        <p:spPr>
          <a:xfrm>
            <a:off x="320040" y="473659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bg1"/>
                </a:solidFill>
              </a:rPr>
              <a:t>Dependencias unidireccionales: Presentación → Lógica → Datos / Integración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42D2-0732-A4D1-F2A7-65953D5F9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4D782DE5-4F1A-C010-4698-5C5037D27672}"/>
              </a:ext>
            </a:extLst>
          </p:cNvPr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77140CA3-1949-43F8-F237-959B2642DBF1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FC3B6CD0-FC1A-0B7A-A8AC-F478E7FF366E}"/>
              </a:ext>
            </a:extLst>
          </p:cNvPr>
          <p:cNvSpPr txBox="1"/>
          <p:nvPr/>
        </p:nvSpPr>
        <p:spPr>
          <a:xfrm>
            <a:off x="193430" y="214291"/>
            <a:ext cx="3675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Diagrama de Componentes</a:t>
            </a:r>
            <a:endParaRPr lang="es-CL" dirty="0"/>
          </a:p>
          <a:p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6993B54-E718-EBA2-5B8F-B7938E7AC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129" y="822960"/>
            <a:ext cx="6368063" cy="432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517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45D56-B70C-A48A-07F6-87386067A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A9F929B8-7246-EEE9-4832-B5E3F1811F97}"/>
              </a:ext>
            </a:extLst>
          </p:cNvPr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3A06B60-D4FE-B6DB-E5D5-FB83B2FDC91E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5747DAD5-87CD-34CF-68A3-B35F65857052}"/>
              </a:ext>
            </a:extLst>
          </p:cNvPr>
          <p:cNvSpPr txBox="1"/>
          <p:nvPr/>
        </p:nvSpPr>
        <p:spPr>
          <a:xfrm>
            <a:off x="193430" y="214291"/>
            <a:ext cx="3675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Diagrama de Paquetes</a:t>
            </a:r>
            <a:endParaRPr lang="es-CL" dirty="0"/>
          </a:p>
          <a:p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076C059-4B4B-50E3-4C42-3419971E7F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641"/>
          <a:stretch>
            <a:fillRect/>
          </a:stretch>
        </p:blipFill>
        <p:spPr>
          <a:xfrm>
            <a:off x="295246" y="1174037"/>
            <a:ext cx="4276754" cy="305345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52B544E-5593-5368-30D3-BB281F3CC3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641"/>
          <a:stretch>
            <a:fillRect/>
          </a:stretch>
        </p:blipFill>
        <p:spPr>
          <a:xfrm>
            <a:off x="4572000" y="1188074"/>
            <a:ext cx="4276754" cy="3053454"/>
          </a:xfrm>
          <a:prstGeom prst="rect">
            <a:avLst/>
          </a:prstGeom>
        </p:spPr>
      </p:pic>
      <p:sp>
        <p:nvSpPr>
          <p:cNvPr id="8" name="Flecha: curvada hacia abajo 7">
            <a:extLst>
              <a:ext uri="{FF2B5EF4-FFF2-40B4-BE49-F238E27FC236}">
                <a16:creationId xmlns:a16="http://schemas.microsoft.com/office/drawing/2014/main" id="{DFE3740F-2FC5-9392-FCD9-4BD6BC3D7592}"/>
              </a:ext>
            </a:extLst>
          </p:cNvPr>
          <p:cNvSpPr/>
          <p:nvPr/>
        </p:nvSpPr>
        <p:spPr>
          <a:xfrm>
            <a:off x="4785360" y="1073486"/>
            <a:ext cx="207264" cy="117384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9" name="Flecha: curvada hacia arriba 8">
            <a:extLst>
              <a:ext uri="{FF2B5EF4-FFF2-40B4-BE49-F238E27FC236}">
                <a16:creationId xmlns:a16="http://schemas.microsoft.com/office/drawing/2014/main" id="{7DC34AFA-388A-6290-7B22-5DBD14967308}"/>
              </a:ext>
            </a:extLst>
          </p:cNvPr>
          <p:cNvSpPr/>
          <p:nvPr/>
        </p:nvSpPr>
        <p:spPr>
          <a:xfrm>
            <a:off x="4108704" y="4226203"/>
            <a:ext cx="240088" cy="187452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E4BFD036-549E-A246-A6E1-753B875F9ED8}"/>
              </a:ext>
            </a:extLst>
          </p:cNvPr>
          <p:cNvCxnSpPr>
            <a:cxnSpLocks/>
          </p:cNvCxnSpPr>
          <p:nvPr/>
        </p:nvCxnSpPr>
        <p:spPr>
          <a:xfrm>
            <a:off x="4572000" y="822960"/>
            <a:ext cx="0" cy="43205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007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 Procesos y Vista Física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8912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4.4 ACTIVIDAD — RF-24  |  4.5 DESPLIEGUE — INFRAESTRUCTURA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4023360" cy="3886200"/>
          </a:xfrm>
          <a:prstGeom prst="rect">
            <a:avLst/>
          </a:prstGeom>
          <a:solidFill>
            <a:schemeClr val="tx1">
              <a:lumMod val="95000"/>
            </a:scheme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 dirty="0"/>
          </a:p>
        </p:txBody>
      </p:sp>
      <p:sp>
        <p:nvSpPr>
          <p:cNvPr id="6" name="Shape 4"/>
          <p:cNvSpPr/>
          <p:nvPr/>
        </p:nvSpPr>
        <p:spPr>
          <a:xfrm>
            <a:off x="320040" y="932688"/>
            <a:ext cx="4023360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84048" y="96926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Diagrama de Actividad — RF-24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298448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Administrador accede al módulo de Reportes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" y="1563624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Sistema verifica autenticación y permisos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912" y="1828800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¿Tiene permisos? → No: Acceso denegado / Fin</a:t>
            </a:r>
            <a:endParaRPr lang="en-US" sz="900" u="sng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" y="2093976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Administrador configura filtros (período, unidad)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912" y="2359152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Sistema consulta estados de morosidad en BD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" y="2624328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Sistema cruza con registros de pagos (RF-07)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8912" y="2889504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Sistema calcula indicadores (morosos, deuda)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8912" y="3154680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Sistema genera y muestra </a:t>
            </a:r>
            <a:r>
              <a:rPr lang="en-US" sz="9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8912" y="3419856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u="sng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 ¿Exportar? → Sí: Exporta archivo (RF-29)</a:t>
            </a:r>
            <a:endParaRPr lang="en-US" sz="900" u="sng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8912" y="3685032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Fin del proceso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00600" y="932688"/>
            <a:ext cx="4023360" cy="3886200"/>
          </a:xfrm>
          <a:prstGeom prst="rect">
            <a:avLst/>
          </a:prstGeom>
          <a:solidFill>
            <a:schemeClr val="tx1">
              <a:lumMod val="95000"/>
            </a:schemeClr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4800600" y="932688"/>
            <a:ext cx="4023360" cy="2926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4864608" y="96926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Diagrama de Despliegue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1298448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983480" y="13441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</a:rPr>
              <a:t>Dispositivo Cliente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83480" y="15727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chemeClr val="bg1"/>
                </a:solidFill>
              </a:rPr>
              <a:t>Aplicación Web (HTML/CSS/JS)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7040880" y="13441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chemeClr val="bg1"/>
                </a:solidFill>
              </a:rPr>
              <a:t>Browser / App Móvil</a:t>
            </a:r>
          </a:p>
          <a:p>
            <a:pPr marL="0" indent="0" algn="r">
              <a:buNone/>
            </a:pPr>
            <a:r>
              <a:rPr lang="en-US" sz="800" dirty="0">
                <a:solidFill>
                  <a:schemeClr val="bg1"/>
                </a:solidFill>
              </a:rPr>
              <a:t>→ HTTPS</a:t>
            </a:r>
          </a:p>
        </p:txBody>
      </p:sp>
      <p:sp>
        <p:nvSpPr>
          <p:cNvPr id="25" name="Shape 23"/>
          <p:cNvSpPr/>
          <p:nvPr/>
        </p:nvSpPr>
        <p:spPr>
          <a:xfrm>
            <a:off x="4892040" y="1965960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983480" y="2011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</a:rPr>
              <a:t>Servidor de Aplicación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83480" y="22402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chemeClr val="bg1"/>
                </a:solidFill>
              </a:rPr>
              <a:t>API REST (Backend)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040880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chemeClr val="bg1"/>
                </a:solidFill>
              </a:rPr>
              <a:t>App Server</a:t>
            </a:r>
          </a:p>
          <a:p>
            <a:pPr marL="0" indent="0" algn="r">
              <a:buNone/>
            </a:pPr>
            <a:r>
              <a:rPr lang="en-US" sz="800" dirty="0">
                <a:solidFill>
                  <a:schemeClr val="bg1"/>
                </a:solidFill>
              </a:rPr>
              <a:t>→ TCP/IP (Puerto 5432)</a:t>
            </a:r>
          </a:p>
        </p:txBody>
      </p:sp>
      <p:sp>
        <p:nvSpPr>
          <p:cNvPr id="29" name="Shape 27"/>
          <p:cNvSpPr/>
          <p:nvPr/>
        </p:nvSpPr>
        <p:spPr>
          <a:xfrm>
            <a:off x="4892040" y="2633472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4983480" y="26791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</a:rPr>
              <a:t>Servidor BD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4983480" y="29077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chemeClr val="bg1"/>
                </a:solidFill>
              </a:rPr>
              <a:t>El_Mirador_DB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7040880" y="26791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chemeClr val="bg1"/>
                </a:solidFill>
              </a:rPr>
              <a:t>PostgreSQL</a:t>
            </a:r>
          </a:p>
          <a:p>
            <a:pPr marL="0" indent="0" algn="r">
              <a:buNone/>
            </a:pPr>
            <a:r>
              <a:rPr lang="en-US" sz="800" dirty="0">
                <a:solidFill>
                  <a:schemeClr val="bg1"/>
                </a:solidFill>
              </a:rPr>
              <a:t>→ HTTPS</a:t>
            </a:r>
          </a:p>
        </p:txBody>
      </p:sp>
      <p:sp>
        <p:nvSpPr>
          <p:cNvPr id="33" name="Shape 31"/>
          <p:cNvSpPr/>
          <p:nvPr/>
        </p:nvSpPr>
        <p:spPr>
          <a:xfrm>
            <a:off x="4892040" y="3300984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4983480" y="33467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</a:rPr>
              <a:t>WebPay «external»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4983480" y="35753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chemeClr val="bg1"/>
                </a:solidFill>
              </a:rPr>
              <a:t>Procesa transacciones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7040880" y="33467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 err="1">
                <a:solidFill>
                  <a:schemeClr val="bg1"/>
                </a:solidFill>
              </a:rPr>
              <a:t>Pasarela</a:t>
            </a:r>
            <a:r>
              <a:rPr lang="en-US" sz="800" dirty="0">
                <a:solidFill>
                  <a:schemeClr val="bg1"/>
                </a:solidFill>
              </a:rPr>
              <a:t> externa</a:t>
            </a:r>
          </a:p>
          <a:p>
            <a:pPr marL="0" indent="0" algn="r">
              <a:buNone/>
            </a:pPr>
            <a:r>
              <a:rPr lang="en-US" sz="800" dirty="0">
                <a:solidFill>
                  <a:schemeClr val="bg1"/>
                </a:solidFill>
              </a:rPr>
              <a:t>→ HTTPS</a:t>
            </a:r>
          </a:p>
        </p:txBody>
      </p:sp>
      <p:sp>
        <p:nvSpPr>
          <p:cNvPr id="37" name="Text 35"/>
          <p:cNvSpPr/>
          <p:nvPr/>
        </p:nvSpPr>
        <p:spPr>
          <a:xfrm>
            <a:off x="4892040" y="4526280"/>
            <a:ext cx="3895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chemeClr val="bg1"/>
                </a:solidFill>
              </a:rPr>
              <a:t>Los nodos WebPay y Servicio Email/SMS tienen estereotipo «external system».</a:t>
            </a:r>
            <a:endParaRPr lang="en-US" sz="8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959A5-C8E2-5B71-C382-E0C1837C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1BA7C308-B866-1837-8F0C-4EB65F802052}"/>
              </a:ext>
            </a:extLst>
          </p:cNvPr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F0C2EB0-8F83-B0DF-974B-63B8A833ACEE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3B9BA2A-0901-ED0D-4372-A12987BC93E0}"/>
              </a:ext>
            </a:extLst>
          </p:cNvPr>
          <p:cNvSpPr txBox="1"/>
          <p:nvPr/>
        </p:nvSpPr>
        <p:spPr>
          <a:xfrm>
            <a:off x="193430" y="214291"/>
            <a:ext cx="3675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Diagrama de Actividad </a:t>
            </a:r>
            <a:endParaRPr lang="es-CL" dirty="0"/>
          </a:p>
          <a:p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D099475-DF15-F44B-E589-3D6005441C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2" r="18903" b="47097"/>
          <a:stretch>
            <a:fillRect/>
          </a:stretch>
        </p:blipFill>
        <p:spPr>
          <a:xfrm>
            <a:off x="0" y="860622"/>
            <a:ext cx="4617018" cy="395020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2182495-2BC4-E082-1A5B-3AC6E6A9A7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910" t="51911"/>
          <a:stretch>
            <a:fillRect/>
          </a:stretch>
        </p:blipFill>
        <p:spPr>
          <a:xfrm>
            <a:off x="4572000" y="937454"/>
            <a:ext cx="4459806" cy="4091551"/>
          </a:xfrm>
          <a:prstGeom prst="rect">
            <a:avLst/>
          </a:prstGeom>
        </p:spPr>
      </p:pic>
      <p:sp>
        <p:nvSpPr>
          <p:cNvPr id="8" name="Flecha: curvada hacia arriba 7">
            <a:extLst>
              <a:ext uri="{FF2B5EF4-FFF2-40B4-BE49-F238E27FC236}">
                <a16:creationId xmlns:a16="http://schemas.microsoft.com/office/drawing/2014/main" id="{CB080042-5ED6-AFB0-55B8-369E957BBF23}"/>
              </a:ext>
            </a:extLst>
          </p:cNvPr>
          <p:cNvSpPr/>
          <p:nvPr/>
        </p:nvSpPr>
        <p:spPr>
          <a:xfrm>
            <a:off x="4181856" y="4848492"/>
            <a:ext cx="277950" cy="180513"/>
          </a:xfrm>
          <a:prstGeom prst="curvedUp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9" name="Flecha: curvada hacia abajo 8">
            <a:extLst>
              <a:ext uri="{FF2B5EF4-FFF2-40B4-BE49-F238E27FC236}">
                <a16:creationId xmlns:a16="http://schemas.microsoft.com/office/drawing/2014/main" id="{37541542-A7F3-7627-19D9-9D4875C42883}"/>
              </a:ext>
            </a:extLst>
          </p:cNvPr>
          <p:cNvSpPr/>
          <p:nvPr/>
        </p:nvSpPr>
        <p:spPr>
          <a:xfrm>
            <a:off x="4925568" y="937454"/>
            <a:ext cx="256032" cy="184210"/>
          </a:xfrm>
          <a:prstGeom prst="curved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BC2EFF5B-5545-F658-1BA7-0A5BE6BF7D12}"/>
              </a:ext>
            </a:extLst>
          </p:cNvPr>
          <p:cNvCxnSpPr>
            <a:cxnSpLocks/>
            <a:stCxn id="2" idx="2"/>
            <a:endCxn id="15" idx="2"/>
          </p:cNvCxnSpPr>
          <p:nvPr/>
        </p:nvCxnSpPr>
        <p:spPr>
          <a:xfrm>
            <a:off x="4572000" y="822960"/>
            <a:ext cx="0" cy="43205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26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6506C-DC0C-047F-4FD5-2A52A972E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BDDCC60-9F8D-86D4-9DAC-4E97C7AB8EBA}"/>
              </a:ext>
            </a:extLst>
          </p:cNvPr>
          <p:cNvSpPr/>
          <p:nvPr/>
        </p:nvSpPr>
        <p:spPr>
          <a:xfrm>
            <a:off x="0" y="822960"/>
            <a:ext cx="9144000" cy="43205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bg1"/>
              </a:solidFill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DFE1E29F-2153-2A28-1B58-BF1BB57318D2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7C792F24-7430-B1D4-0633-5985334FB821}"/>
              </a:ext>
            </a:extLst>
          </p:cNvPr>
          <p:cNvSpPr txBox="1"/>
          <p:nvPr/>
        </p:nvSpPr>
        <p:spPr>
          <a:xfrm>
            <a:off x="193430" y="214291"/>
            <a:ext cx="3675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Diagrama de Despliegue </a:t>
            </a:r>
            <a:endParaRPr lang="es-CL" dirty="0"/>
          </a:p>
          <a:p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B68CDD8-A399-76CD-D697-A5F1C09D0E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98"/>
          <a:stretch>
            <a:fillRect/>
          </a:stretch>
        </p:blipFill>
        <p:spPr>
          <a:xfrm>
            <a:off x="1517831" y="860622"/>
            <a:ext cx="6108338" cy="428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853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1148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de Calidad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004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PUNTO 5 DAS  |  ATRIBUTOS RNF  |  8 PRINCIPIOS DE DISEÑO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54864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448056" y="106070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Usabilidad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48056" y="1335024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tx2">
                    <a:lumMod val="25000"/>
                  </a:schemeClr>
                </a:solidFill>
              </a:rPr>
              <a:t>RNF-01</a:t>
            </a:r>
            <a:endParaRPr lang="en-US" sz="900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48056" y="1536192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SUS ≥75, prueba de usabilidad </a:t>
            </a:r>
            <a:r>
              <a:rPr lang="en-US" sz="900" dirty="0" err="1">
                <a:solidFill>
                  <a:srgbClr val="2E4057"/>
                </a:solidFill>
              </a:rPr>
              <a:t>planificada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987552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3154680" y="987552"/>
            <a:ext cx="54864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282696" y="106070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Rendimiento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82696" y="1335024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tx2">
                    <a:lumMod val="25000"/>
                  </a:schemeClr>
                </a:solidFill>
              </a:rPr>
              <a:t>RNF-04</a:t>
            </a:r>
            <a:endParaRPr lang="en-US" sz="900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82696" y="1536192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Consultas ≤3 seg, 20 usuarios concurrentes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89320" y="987552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989320" y="987552"/>
            <a:ext cx="54864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117336" y="106070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Seguridad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17336" y="1335024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tx2">
                    <a:lumMod val="25000"/>
                  </a:schemeClr>
                </a:solidFill>
              </a:rPr>
              <a:t>RNF-10/11</a:t>
            </a:r>
            <a:endParaRPr lang="en-US" sz="900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17336" y="1536192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JWT, HTTPS, control de acceso por roles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313432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320040" y="2313432"/>
            <a:ext cx="54864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48056" y="238658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Trazabilidad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48056" y="2660904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tx2">
                    <a:lumMod val="25000"/>
                  </a:schemeClr>
                </a:solidFill>
              </a:rPr>
              <a:t>RNF-12</a:t>
            </a:r>
            <a:endParaRPr lang="en-US" sz="900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48056" y="2862072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100% ops críticas en log de auditoría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54680" y="2313432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3154680" y="2313432"/>
            <a:ext cx="54864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3282696" y="238658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Disponibilidad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82696" y="2660904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tx2">
                    <a:lumMod val="25000"/>
                  </a:schemeClr>
                </a:solidFill>
              </a:rPr>
              <a:t>RNF-07</a:t>
            </a:r>
            <a:endParaRPr lang="en-US" sz="900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3282696" y="2862072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≥99% uptime mensual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89320" y="2313432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5989320" y="2313432"/>
            <a:ext cx="54864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6117336" y="238658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Interoperab</a:t>
            </a:r>
            <a:r>
              <a:rPr lang="en-US" sz="1100" b="1" dirty="0">
                <a:solidFill>
                  <a:srgbClr val="1C2B4A"/>
                </a:solidFill>
              </a:rPr>
              <a:t>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17336" y="2660904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tx2">
                    <a:lumMod val="25000"/>
                  </a:schemeClr>
                </a:solidFill>
              </a:rPr>
              <a:t>RNF-18</a:t>
            </a:r>
            <a:endParaRPr lang="en-US" sz="900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17336" y="2862072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4057"/>
                </a:solidFill>
              </a:rPr>
              <a:t>APIs WebPay/Notificaciones, sin procesar pagos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" y="365760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chemeClr val="bg1"/>
                </a:solidFill>
              </a:rPr>
              <a:t>PRINCIPIOS DE DISEÑO APLICADOS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92608" y="3886200"/>
            <a:ext cx="1033272" cy="9875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347472" y="4219956"/>
            <a:ext cx="978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Cohesión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426464" y="3886200"/>
            <a:ext cx="1033272" cy="987552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1481328" y="4251960"/>
            <a:ext cx="97840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Acoplamiento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32888" y="3886200"/>
            <a:ext cx="1033272" cy="987552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2560320" y="4251960"/>
            <a:ext cx="97840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Encapsulamiento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39312" y="3886200"/>
            <a:ext cx="1033272" cy="987552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 dirty="0"/>
          </a:p>
        </p:txBody>
      </p:sp>
      <p:sp>
        <p:nvSpPr>
          <p:cNvPr id="43" name="Text 41"/>
          <p:cNvSpPr/>
          <p:nvPr/>
        </p:nvSpPr>
        <p:spPr>
          <a:xfrm>
            <a:off x="3666744" y="4268490"/>
            <a:ext cx="97840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Abstracción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45736" y="3886200"/>
            <a:ext cx="1033272" cy="987552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/>
          <p:nvPr/>
        </p:nvSpPr>
        <p:spPr>
          <a:xfrm>
            <a:off x="4800600" y="4279392"/>
            <a:ext cx="97840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Modularidad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852160" y="3886200"/>
            <a:ext cx="1033272" cy="987552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7" name="Text 45"/>
          <p:cNvSpPr/>
          <p:nvPr/>
        </p:nvSpPr>
        <p:spPr>
          <a:xfrm>
            <a:off x="5879592" y="4295922"/>
            <a:ext cx="978408" cy="271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Responsabilidades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958584" y="3886200"/>
            <a:ext cx="1033272" cy="987552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9" name="Text 47"/>
          <p:cNvSpPr/>
          <p:nvPr/>
        </p:nvSpPr>
        <p:spPr>
          <a:xfrm>
            <a:off x="6944868" y="4303659"/>
            <a:ext cx="97840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Abierto/Cerrado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033004" y="3886200"/>
            <a:ext cx="1033272" cy="987552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/>
          <a:effectLst>
            <a:outerShdw blurRad="508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1" name="Text 49"/>
          <p:cNvSpPr/>
          <p:nvPr/>
        </p:nvSpPr>
        <p:spPr>
          <a:xfrm>
            <a:off x="8033004" y="4343400"/>
            <a:ext cx="978408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</a:t>
            </a:r>
            <a:endParaRPr lang="en-US" sz="85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873</TotalTime>
  <Words>997</Words>
  <Application>Microsoft Office PowerPoint</Application>
  <PresentationFormat>Presentación en pantalla (16:9)</PresentationFormat>
  <Paragraphs>227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Calibri</vt:lpstr>
      <vt:lpstr>Century Gothic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 El Mirador – Evaluación Parcial 2.2</dc:title>
  <dc:subject>PptxGenJS Presentation</dc:subject>
  <dc:creator>PptxGenJS</dc:creator>
  <cp:lastModifiedBy>BASTIAN BENJAMIN GONZALEZ FLORES</cp:lastModifiedBy>
  <cp:revision>11</cp:revision>
  <dcterms:created xsi:type="dcterms:W3CDTF">2026-05-17T12:57:44Z</dcterms:created>
  <dcterms:modified xsi:type="dcterms:W3CDTF">2026-05-19T12:06:02Z</dcterms:modified>
</cp:coreProperties>
</file>